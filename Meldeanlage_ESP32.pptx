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sldIdLst>
    <p:sldId id="256" r:id="rId2"/>
    <p:sldId id="264" r:id="rId3"/>
    <p:sldId id="258" r:id="rId4"/>
    <p:sldId id="259" r:id="rId5"/>
    <p:sldId id="260" r:id="rId6"/>
    <p:sldId id="261" r:id="rId7"/>
    <p:sldId id="262" r:id="rId8"/>
    <p:sldId id="269" r:id="rId9"/>
    <p:sldId id="270" r:id="rId10"/>
    <p:sldId id="263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23DA68D3-641F-4145-B66A-B73C6BED1BD7}">
          <p14:sldIdLst>
            <p14:sldId id="256"/>
            <p14:sldId id="264"/>
          </p14:sldIdLst>
        </p14:section>
        <p14:section name="Präsentation" id="{5366B1CC-251D-4BD9-A6E3-4715A63C8E10}">
          <p14:sldIdLst>
            <p14:sldId id="258"/>
            <p14:sldId id="259"/>
            <p14:sldId id="260"/>
            <p14:sldId id="261"/>
            <p14:sldId id="262"/>
            <p14:sldId id="269"/>
            <p14:sldId id="270"/>
            <p14:sldId id="263"/>
            <p14:sldId id="265"/>
            <p14:sldId id="266"/>
            <p14:sldId id="267"/>
          </p14:sldIdLst>
        </p14:section>
        <p14:section name="Quellen" id="{3140D1CC-A0DA-4681-BB69-E9FC95C2D642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51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9" autoAdjust="0"/>
    <p:restoredTop sz="94660"/>
  </p:normalViewPr>
  <p:slideViewPr>
    <p:cSldViewPr snapToGrid="0" showGuides="1">
      <p:cViewPr>
        <p:scale>
          <a:sx n="68" d="100"/>
          <a:sy n="68" d="100"/>
        </p:scale>
        <p:origin x="629" y="2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F9E511-71EA-4481-90ED-252EDB7D78D7}" type="datetimeFigureOut">
              <a:rPr lang="de-DE" smtClean="0"/>
              <a:t>17.01.2026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6C8125-0FB3-477A-87F7-C781640BFF75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17895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C8125-0FB3-477A-87F7-C781640BFF75}" type="slidenum">
              <a:rPr lang="de-DE" smtClean="0"/>
              <a:t>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304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Auftrag </a:t>
            </a:r>
          </a:p>
          <a:p>
            <a:r>
              <a:rPr lang="de-DE" dirty="0"/>
              <a:t>Projekt mit MQTT &amp; ESP32 ausarbeiten</a:t>
            </a:r>
          </a:p>
          <a:p>
            <a:endParaRPr lang="de-DE" dirty="0"/>
          </a:p>
          <a:p>
            <a:r>
              <a:rPr lang="de-DE" dirty="0"/>
              <a:t>Übertragbarkeit</a:t>
            </a:r>
          </a:p>
          <a:p>
            <a:r>
              <a:rPr lang="de-DE" dirty="0"/>
              <a:t>Temperatur RZ</a:t>
            </a:r>
          </a:p>
          <a:p>
            <a:r>
              <a:rPr lang="de-DE" dirty="0"/>
              <a:t>Lichtsteuerung Foyer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C8125-0FB3-477A-87F7-C781640BFF75}" type="slidenum">
              <a:rPr lang="de-DE" smtClean="0"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227118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Prototyp</a:t>
            </a:r>
          </a:p>
          <a:p>
            <a:r>
              <a:rPr lang="de-DE" dirty="0"/>
              <a:t>Alarmanlage</a:t>
            </a:r>
          </a:p>
          <a:p>
            <a:r>
              <a:rPr lang="de-DE" dirty="0"/>
              <a:t>--------------------</a:t>
            </a:r>
          </a:p>
          <a:p>
            <a:r>
              <a:rPr lang="de-DE" dirty="0"/>
              <a:t>Anwesenheit</a:t>
            </a:r>
          </a:p>
          <a:p>
            <a:endParaRPr lang="de-DE" dirty="0"/>
          </a:p>
          <a:p>
            <a:r>
              <a:rPr lang="de-DE" dirty="0"/>
              <a:t>MQTT-Kommunikation</a:t>
            </a:r>
          </a:p>
          <a:p>
            <a:endParaRPr lang="de-DE" dirty="0"/>
          </a:p>
          <a:p>
            <a:r>
              <a:rPr lang="de-DE" dirty="0"/>
              <a:t>Protokollierung</a:t>
            </a:r>
          </a:p>
          <a:p>
            <a:r>
              <a:rPr lang="de-DE" dirty="0"/>
              <a:t>Benachrichtigung</a:t>
            </a:r>
          </a:p>
          <a:p>
            <a:endParaRPr lang="de-DE" dirty="0"/>
          </a:p>
          <a:p>
            <a:r>
              <a:rPr lang="de-DE" dirty="0"/>
              <a:t>NFC</a:t>
            </a:r>
          </a:p>
          <a:p>
            <a:endParaRPr lang="de-DE" dirty="0"/>
          </a:p>
          <a:p>
            <a:r>
              <a:rPr lang="de-DE" dirty="0"/>
              <a:t>Stabilität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C8125-0FB3-477A-87F7-C781640BFF75}" type="slidenum">
              <a:rPr lang="de-DE" smtClean="0"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41831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32h</a:t>
            </a:r>
          </a:p>
          <a:p>
            <a:endParaRPr lang="de-DE" dirty="0"/>
          </a:p>
          <a:p>
            <a:r>
              <a:rPr lang="de-DE" dirty="0"/>
              <a:t>Büro IT</a:t>
            </a:r>
          </a:p>
          <a:p>
            <a:r>
              <a:rPr lang="de-DE" dirty="0"/>
              <a:t>Ganzheitliche Betreuung IT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C8125-0FB3-477A-87F7-C781640BFF75}" type="slidenum">
              <a:rPr lang="de-DE" smtClean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678230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7h</a:t>
            </a:r>
          </a:p>
          <a:p>
            <a:r>
              <a:rPr lang="de-DE" dirty="0"/>
              <a:t>10h</a:t>
            </a:r>
          </a:p>
          <a:p>
            <a:r>
              <a:rPr lang="de-DE" dirty="0"/>
              <a:t>4h</a:t>
            </a:r>
          </a:p>
          <a:p>
            <a:r>
              <a:rPr lang="de-DE" dirty="0"/>
              <a:t>21h</a:t>
            </a:r>
          </a:p>
          <a:p>
            <a:r>
              <a:rPr lang="de-DE" dirty="0"/>
              <a:t>11h</a:t>
            </a:r>
          </a:p>
          <a:p>
            <a:r>
              <a:rPr lang="de-DE" dirty="0"/>
              <a:t>----------</a:t>
            </a:r>
          </a:p>
          <a:p>
            <a:r>
              <a:rPr lang="de-DE" dirty="0"/>
              <a:t>42€</a:t>
            </a:r>
          </a:p>
          <a:p>
            <a:r>
              <a:rPr lang="de-DE" dirty="0"/>
              <a:t>276€</a:t>
            </a:r>
          </a:p>
          <a:p>
            <a:r>
              <a:rPr lang="de-DE" dirty="0"/>
              <a:t>317€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C8125-0FB3-477A-87F7-C781640BFF75}" type="slidenum">
              <a:rPr lang="de-DE" smtClean="0"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606652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Geplant 21h</a:t>
            </a:r>
          </a:p>
          <a:p>
            <a:r>
              <a:rPr lang="de-DE" dirty="0"/>
              <a:t>Real 28h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C8125-0FB3-477A-87F7-C781640BFF75}" type="slidenum">
              <a:rPr lang="de-DE" smtClean="0"/>
              <a:t>12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31889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54D6733-7C4E-5470-B36A-6D5F47F9A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Anlass | Ziel | Projektumfeld | Planung | Systemarchitektur | Problem und Lösung | Projektergebnis | Nutzen | Fazit und Ausblick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AE22439-6581-4ED0-DF19-9EE0C60C65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965F3DD-CE48-A8D3-BB2D-6DDD76B6E2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7219D2-1168-58E6-EA88-3435F7420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3EC4D-5E72-47C8-A06D-2D92D75B0696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90460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3134EC3-7626-1E72-4295-03D93F234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Anlass | Ziel | Projektumfeld | Planung | Systemarchitektur | Problem und Lösung | Projektergebnis | Nutzen | Fazit und Ausblick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B0D4212-360A-A0EC-8DCD-0C0E95122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0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70ED8B3-D330-1EEB-1745-795FA24A2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91C262-162B-3D21-9D66-158967B69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3EC4D-5E72-47C8-A06D-2D92D75B0696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873224FE-2752-30EA-1CFA-C13CDA5B2E4C}"/>
              </a:ext>
            </a:extLst>
          </p:cNvPr>
          <p:cNvSpPr/>
          <p:nvPr userDrawn="1"/>
        </p:nvSpPr>
        <p:spPr>
          <a:xfrm>
            <a:off x="-1" y="1196827"/>
            <a:ext cx="12192001" cy="18949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2396DCD2-CE1F-4971-5E73-9C58421574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91788"/>
            <a:ext cx="2017794" cy="108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5731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65B5584-C975-B198-BC19-96E81D7E1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Anlass | Ziel | Projektumfeld | Planung | Systemarchitektur | Problem und Lösung | Projektergebnis | Nutzen | Fazit und Ausblick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BAAC8A9-D499-5A6C-B99B-2C189E609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3F5A414-ECD6-318F-5344-37A4EFBECF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22"/>
            <a:ext cx="5181600" cy="4678941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DDD18FA-FCB3-CB4C-9FF0-BFC8E9D1CA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22"/>
            <a:ext cx="5181600" cy="4678941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9E8FA5E-CF64-6D4F-842D-94C287E80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3EC4D-5E72-47C8-A06D-2D92D75B0696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09221C6-0072-A373-B5BE-692CB19608B9}"/>
              </a:ext>
            </a:extLst>
          </p:cNvPr>
          <p:cNvSpPr/>
          <p:nvPr userDrawn="1"/>
        </p:nvSpPr>
        <p:spPr>
          <a:xfrm>
            <a:off x="-1" y="1196827"/>
            <a:ext cx="12192001" cy="18949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464294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2B1C3A-ECE5-A17C-2386-C63ABB9E3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Anlass | Ziel | Projektumfeld | Planung | Systemarchitektur | Problem und Lösung | Projektergebnis | Nutzen | Fazit und Ausblick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0041E80-6098-C7B4-BAE3-28623FD8F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200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8D4CA5F-9C5D-78E4-A8AD-34125776D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35B037E-6916-28E8-69EA-17E13D8489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54B13D2-7F22-4280-111B-BF020629CA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0E1C196-7CFF-8BEF-17D6-DFFF6D6BA3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2027D2B-C12A-D144-96A2-9F7E15E09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3EC4D-5E72-47C8-A06D-2D92D75B0696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C41F50F3-B15D-0983-25F1-D7F4DAC1C275}"/>
              </a:ext>
            </a:extLst>
          </p:cNvPr>
          <p:cNvSpPr/>
          <p:nvPr userDrawn="1"/>
        </p:nvSpPr>
        <p:spPr>
          <a:xfrm>
            <a:off x="-1" y="1196827"/>
            <a:ext cx="12192001" cy="18949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31642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0632DEE-E47F-717F-DB88-7CC7A8E44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Anlass | Ziel | Projektumfeld | Planung | Systemarchitektur | Problem und Lösung | Projektergebnis | Nutzen | Fazit und Ausblick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207A824-3162-9E6D-D833-A91CB84E6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D412E80-BAFC-ABB6-3311-38EA85063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3EC4D-5E72-47C8-A06D-2D92D75B0696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E100F59-AC8B-F7D3-0639-CBABA45986CB}"/>
              </a:ext>
            </a:extLst>
          </p:cNvPr>
          <p:cNvSpPr/>
          <p:nvPr userDrawn="1"/>
        </p:nvSpPr>
        <p:spPr>
          <a:xfrm>
            <a:off x="-1" y="1196827"/>
            <a:ext cx="12192001" cy="18949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16158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57EAA6B-6664-0FEF-FF92-175FEE0F2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Anlass | Ziel | Projektumfeld | Planung | Systemarchitektur | Problem und Lösung | Projektergebnis | Nutzen | Fazit und Ausblick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50BF6C9-27A9-FAD0-3010-1D78E2040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3EC4D-5E72-47C8-A06D-2D92D75B0696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09583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83A66CCF-D304-0388-4E98-A1FDCE006559}"/>
              </a:ext>
            </a:extLst>
          </p:cNvPr>
          <p:cNvSpPr/>
          <p:nvPr userDrawn="1"/>
        </p:nvSpPr>
        <p:spPr>
          <a:xfrm>
            <a:off x="-1" y="6289385"/>
            <a:ext cx="12192001" cy="56861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450A478-6814-D89D-48AC-1A2062605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E531B1D-A298-CE2D-D197-615DF232F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98022"/>
            <a:ext cx="10515600" cy="46789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70BBF26-375E-68C1-5161-234552BA74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01087"/>
            <a:ext cx="1051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 dirty="0"/>
              <a:t>Anlass | Ziel | Projektumfeld | Planung | Systemarchitektur | Problem und Lösung | Projektergebnis | Nutzen | Fazit und Ausblick</a:t>
            </a:r>
            <a:endParaRPr lang="de-DE" sz="180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771C18-BB5B-AC32-7D1D-8FBDEC8A3A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1450" y="6401086"/>
            <a:ext cx="476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53EC4D-5E72-47C8-A06D-2D92D75B0696}" type="slidenum">
              <a:rPr lang="de-DE" smtClean="0"/>
              <a:pPr/>
              <a:t>‹Nr.›</a:t>
            </a:fld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917544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8.png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1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D655F9-131A-B5ED-D38B-21210E5D11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Umsetzung einer Alarmanlage mittels ESP32 und MQTT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111A572-40D7-1EB2-56F5-8C4D90B80AF5}"/>
              </a:ext>
            </a:extLst>
          </p:cNvPr>
          <p:cNvSpPr txBox="1"/>
          <p:nvPr/>
        </p:nvSpPr>
        <p:spPr>
          <a:xfrm>
            <a:off x="838200" y="3647661"/>
            <a:ext cx="5257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DE" dirty="0"/>
              <a:t>Prüfling:		Simon Czechak</a:t>
            </a:r>
          </a:p>
          <a:p>
            <a:pPr algn="just"/>
            <a:r>
              <a:rPr lang="de-DE" dirty="0"/>
              <a:t>Beruf:		Fachinformatiker</a:t>
            </a:r>
          </a:p>
          <a:p>
            <a:pPr algn="just"/>
            <a:r>
              <a:rPr lang="de-DE" dirty="0"/>
              <a:t>Fachrichtung:	Systemintegrator</a:t>
            </a:r>
          </a:p>
          <a:p>
            <a:pPr algn="just"/>
            <a:r>
              <a:rPr lang="de-DE" dirty="0"/>
              <a:t>Anschrift:	Heuchelheimer Str. 1</a:t>
            </a:r>
          </a:p>
          <a:p>
            <a:pPr algn="just"/>
            <a:r>
              <a:rPr lang="de-DE" dirty="0"/>
              <a:t>		67246 Dirmstein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5CDCA7F-3BB6-E87B-9EC9-73F6CCAB6906}"/>
              </a:ext>
            </a:extLst>
          </p:cNvPr>
          <p:cNvSpPr txBox="1"/>
          <p:nvPr/>
        </p:nvSpPr>
        <p:spPr>
          <a:xfrm>
            <a:off x="6096000" y="3647661"/>
            <a:ext cx="5257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DE" dirty="0"/>
              <a:t>Ausbildungsbetrieb:	Kreisverwaltung Bad</a:t>
            </a:r>
          </a:p>
          <a:p>
            <a:pPr algn="just"/>
            <a:r>
              <a:rPr lang="de-DE" dirty="0"/>
              <a:t>			Dürkheim</a:t>
            </a:r>
          </a:p>
          <a:p>
            <a:pPr algn="just"/>
            <a:r>
              <a:rPr lang="de-DE" dirty="0"/>
              <a:t>Anschrift:		Phillip-Fauth-Str. 1</a:t>
            </a:r>
          </a:p>
          <a:p>
            <a:pPr algn="just"/>
            <a:r>
              <a:rPr lang="de-DE" dirty="0"/>
              <a:t>			67098 Bad Dürkheim</a:t>
            </a:r>
          </a:p>
        </p:txBody>
      </p:sp>
    </p:spTree>
    <p:extLst>
      <p:ext uri="{BB962C8B-B14F-4D97-AF65-F5344CB8AC3E}">
        <p14:creationId xmlns:p14="http://schemas.microsoft.com/office/powerpoint/2010/main" val="3577639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28CADD8-ED90-ED15-C720-D3842FA57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z="1600" dirty="0"/>
              <a:t>Anlass | Ziel | Projektumfeld | Planung | Systemarchitektur | Problem und Lösung | Ergebnis | Nutzen | Fazit und Ausblick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81A9201-E16E-4325-8C34-52F75FDC8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8B9FAAE-BE5C-9843-5745-91B260C38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Anlass</a:t>
            </a:r>
          </a:p>
          <a:p>
            <a:r>
              <a:rPr lang="de-DE" dirty="0"/>
              <a:t>Ziel</a:t>
            </a:r>
          </a:p>
          <a:p>
            <a:r>
              <a:rPr lang="de-DE" dirty="0"/>
              <a:t>Projektumfeld</a:t>
            </a:r>
          </a:p>
          <a:p>
            <a:r>
              <a:rPr lang="de-DE" dirty="0"/>
              <a:t>Planung</a:t>
            </a:r>
          </a:p>
          <a:p>
            <a:r>
              <a:rPr lang="de-DE" dirty="0"/>
              <a:t>Systemarchitektur</a:t>
            </a:r>
          </a:p>
          <a:p>
            <a:r>
              <a:rPr lang="de-DE" dirty="0"/>
              <a:t>Problem und Lösung</a:t>
            </a:r>
          </a:p>
          <a:p>
            <a:r>
              <a:rPr lang="de-DE" dirty="0"/>
              <a:t>Ergebnis</a:t>
            </a:r>
          </a:p>
          <a:p>
            <a:r>
              <a:rPr lang="de-DE" dirty="0"/>
              <a:t>Nutzen</a:t>
            </a:r>
          </a:p>
          <a:p>
            <a:r>
              <a:rPr lang="de-DE" dirty="0"/>
              <a:t>Fazit und Ausblick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4D96880-DBA7-AC64-D5B9-65F727795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3EC4D-5E72-47C8-A06D-2D92D75B0696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00723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4243E12-C4F4-801B-CF9B-9C1979376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z="1600" dirty="0">
                <a:solidFill>
                  <a:schemeClr val="tx1"/>
                </a:solidFill>
              </a:rPr>
              <a:t>Anlass</a:t>
            </a:r>
            <a:r>
              <a:rPr lang="de-DE" sz="1600" dirty="0"/>
              <a:t> | Ziel | Projektumfeld | Planung | Systemarchitektur | Problem und Lösung | Ergebnis | Nutzen | Fazit und Ausblick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447A728-F5DB-29AA-31FC-E508C1710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Anlass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A99D668-3352-748D-882F-C57D870BA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3EC4D-5E72-47C8-A06D-2D92D75B0696}" type="slidenum">
              <a:rPr lang="de-DE" smtClean="0"/>
              <a:t>2</a:t>
            </a:fld>
            <a:endParaRPr lang="de-DE" dirty="0"/>
          </a:p>
        </p:txBody>
      </p:sp>
      <p:pic>
        <p:nvPicPr>
          <p:cNvPr id="10" name="Grafik 9" descr="Ein Bild, das Schwarz, Dunkelheit, Design enthält.&#10;&#10;KI-generierte Inhalte können fehlerhaft sein.">
            <a:extLst>
              <a:ext uri="{FF2B5EF4-FFF2-40B4-BE49-F238E27FC236}">
                <a16:creationId xmlns:a16="http://schemas.microsoft.com/office/drawing/2014/main" id="{0CD72E90-389D-0D4A-40E1-CEFA70C559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0" y="1047750"/>
            <a:ext cx="4762500" cy="4762500"/>
          </a:xfrm>
          <a:prstGeom prst="rect">
            <a:avLst/>
          </a:prstGeom>
        </p:spPr>
      </p:pic>
      <p:pic>
        <p:nvPicPr>
          <p:cNvPr id="12" name="Grafik 11" descr="Ein Bild, das Design, Grafiken, Symbol enthält.&#10;&#10;KI-generierte Inhalte können fehlerhaft sein.">
            <a:extLst>
              <a:ext uri="{FF2B5EF4-FFF2-40B4-BE49-F238E27FC236}">
                <a16:creationId xmlns:a16="http://schemas.microsoft.com/office/drawing/2014/main" id="{C1310279-2CE5-7FF5-844E-9F471EDF2940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6996" y="1868702"/>
            <a:ext cx="3218007" cy="3218007"/>
          </a:xfrm>
          <a:prstGeom prst="rect">
            <a:avLst/>
          </a:prstGeom>
        </p:spPr>
      </p:pic>
      <p:sp>
        <p:nvSpPr>
          <p:cNvPr id="16" name="Inhaltsplatzhalter 3">
            <a:extLst>
              <a:ext uri="{FF2B5EF4-FFF2-40B4-BE49-F238E27FC236}">
                <a16:creationId xmlns:a16="http://schemas.microsoft.com/office/drawing/2014/main" id="{4115F050-36C7-F5B7-B22F-9758D0C99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8022"/>
            <a:ext cx="3364346" cy="4678941"/>
          </a:xfrm>
        </p:spPr>
        <p:txBody>
          <a:bodyPr>
            <a:normAutofit/>
          </a:bodyPr>
          <a:lstStyle/>
          <a:p>
            <a:r>
              <a:rPr lang="de-DE" dirty="0"/>
              <a:t>Berufsschulauftrag</a:t>
            </a:r>
          </a:p>
          <a:p>
            <a:r>
              <a:rPr lang="de-DE" dirty="0"/>
              <a:t>Übertragbarkeit</a:t>
            </a:r>
          </a:p>
          <a:p>
            <a:r>
              <a:rPr lang="de-DE" dirty="0"/>
              <a:t>Zukunftsfähig</a:t>
            </a:r>
          </a:p>
        </p:txBody>
      </p:sp>
      <p:pic>
        <p:nvPicPr>
          <p:cNvPr id="18" name="Grafik 17" descr="Ein Bild, das Grafiken, Schrift, Schwarz, Screenshot enthält.&#10;&#10;KI-generierte Inhalte können fehlerhaft sein.">
            <a:extLst>
              <a:ext uri="{FF2B5EF4-FFF2-40B4-BE49-F238E27FC236}">
                <a16:creationId xmlns:a16="http://schemas.microsoft.com/office/drawing/2014/main" id="{B8187232-4A7F-75B0-55AF-F0C635C33BE9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648" y="1096455"/>
            <a:ext cx="4762500" cy="4762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79314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1750" fill="hold"/>
                                        <p:tgtEl>
                                          <p:spTgt spid="10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156 -0.1430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78" y="-7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1750" fill="hold"/>
                                        <p:tgtEl>
                                          <p:spTgt spid="12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44444E-6 L 0.25221 0.23473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04" y="1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CAF7FE7-54D7-FA49-C2F7-61E983E85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z="1600" dirty="0"/>
              <a:t>Anlass | </a:t>
            </a:r>
            <a:r>
              <a:rPr lang="de-DE" sz="1600" dirty="0">
                <a:solidFill>
                  <a:schemeClr val="tx1"/>
                </a:solidFill>
              </a:rPr>
              <a:t>Ziel</a:t>
            </a:r>
            <a:r>
              <a:rPr lang="de-DE" sz="1600" dirty="0"/>
              <a:t> | Projektumfeld | Planung | Systemarchitektur | Problem und Lösung | Ergebnis | Nutzen | Fazit und Ausblick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2A9249BF-4878-A3E3-0CAB-91CB11299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Ziel</a:t>
            </a:r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D8B141DC-DD8C-5CE6-99FA-5D5558C87E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4059735"/>
              </p:ext>
            </p:extLst>
          </p:nvPr>
        </p:nvGraphicFramePr>
        <p:xfrm>
          <a:off x="2549387" y="1883384"/>
          <a:ext cx="7093226" cy="3719444"/>
        </p:xfrm>
        <a:graphic>
          <a:graphicData uri="http://schemas.openxmlformats.org/drawingml/2006/table">
            <a:tbl>
              <a:tblPr/>
              <a:tblGrid>
                <a:gridCol w="3546613">
                  <a:extLst>
                    <a:ext uri="{9D8B030D-6E8A-4147-A177-3AD203B41FA5}">
                      <a16:colId xmlns:a16="http://schemas.microsoft.com/office/drawing/2014/main" val="2191581380"/>
                    </a:ext>
                  </a:extLst>
                </a:gridCol>
                <a:gridCol w="3546613">
                  <a:extLst>
                    <a:ext uri="{9D8B030D-6E8A-4147-A177-3AD203B41FA5}">
                      <a16:colId xmlns:a16="http://schemas.microsoft.com/office/drawing/2014/main" val="3097243263"/>
                    </a:ext>
                  </a:extLst>
                </a:gridCol>
              </a:tblGrid>
              <a:tr h="44579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de-D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Projektbestandteil</a:t>
                      </a:r>
                      <a:endParaRPr lang="de-DE" sz="28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87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de-D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Soll</a:t>
                      </a:r>
                      <a:endParaRPr lang="de-DE" sz="28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8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057745"/>
                  </a:ext>
                </a:extLst>
              </a:tr>
              <a:tr h="44579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de-D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Anwesenheitserkennung</a:t>
                      </a:r>
                      <a:endParaRPr lang="de-DE" sz="28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de-D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Erkennung von Personen</a:t>
                      </a:r>
                      <a:endParaRPr lang="de-DE" sz="28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516835"/>
                  </a:ext>
                </a:extLst>
              </a:tr>
              <a:tr h="708456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de-D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MQTT-Kommunikation</a:t>
                      </a:r>
                      <a:endParaRPr lang="de-DE" sz="28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de-D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Übertragung von Alarmen über MQTT</a:t>
                      </a:r>
                      <a:endParaRPr lang="de-DE" sz="28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7628518"/>
                  </a:ext>
                </a:extLst>
              </a:tr>
              <a:tr h="708456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de-D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Alarmverarbeitung</a:t>
                      </a:r>
                      <a:endParaRPr lang="de-DE" sz="28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Benachrichtigung über Telegram und Protokollierung</a:t>
                      </a:r>
                      <a:endParaRPr lang="de-DE" sz="28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8574631"/>
                  </a:ext>
                </a:extLst>
              </a:tr>
              <a:tr h="708456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de-D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Scharfschaltung über NFC-Tag</a:t>
                      </a:r>
                      <a:endParaRPr lang="de-DE" sz="28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de-D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Aktivierung der Alarmanlage per autorisiertem NFC-Tag</a:t>
                      </a:r>
                      <a:endParaRPr lang="de-DE" sz="28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8732537"/>
                  </a:ext>
                </a:extLst>
              </a:tr>
              <a:tr h="702496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de-DE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Stabilität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de-DE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Keine Abstürzte im Betreib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8735993"/>
                  </a:ext>
                </a:extLst>
              </a:tr>
            </a:tbl>
          </a:graphicData>
        </a:graphic>
      </p:graphicFrame>
      <p:sp>
        <p:nvSpPr>
          <p:cNvPr id="10" name="Rechteck 9">
            <a:extLst>
              <a:ext uri="{FF2B5EF4-FFF2-40B4-BE49-F238E27FC236}">
                <a16:creationId xmlns:a16="http://schemas.microsoft.com/office/drawing/2014/main" id="{6A003A10-1B02-9907-A3CE-54FB67B5F2F9}"/>
              </a:ext>
            </a:extLst>
          </p:cNvPr>
          <p:cNvSpPr/>
          <p:nvPr/>
        </p:nvSpPr>
        <p:spPr>
          <a:xfrm>
            <a:off x="2377108" y="4916184"/>
            <a:ext cx="7462631" cy="9238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3EE458-752E-0FDB-BE0C-F01ECC842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3EC4D-5E72-47C8-A06D-2D92D75B0696}" type="slidenum">
              <a:rPr lang="de-DE" smtClean="0"/>
              <a:t>3</a:t>
            </a:fld>
            <a:endParaRPr lang="de-DE" dirty="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C9253438-D8C3-0FEC-0E1C-5EB6F5219728}"/>
              </a:ext>
            </a:extLst>
          </p:cNvPr>
          <p:cNvSpPr/>
          <p:nvPr/>
        </p:nvSpPr>
        <p:spPr>
          <a:xfrm>
            <a:off x="2364684" y="4200368"/>
            <a:ext cx="7462631" cy="9238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A5C29C22-BBB9-8969-ED98-050097399EE9}"/>
              </a:ext>
            </a:extLst>
          </p:cNvPr>
          <p:cNvSpPr/>
          <p:nvPr/>
        </p:nvSpPr>
        <p:spPr>
          <a:xfrm>
            <a:off x="2352260" y="3501201"/>
            <a:ext cx="7462631" cy="9238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17DCB9F2-9B77-4238-2C7F-2CBCA63DD7A3}"/>
              </a:ext>
            </a:extLst>
          </p:cNvPr>
          <p:cNvSpPr/>
          <p:nvPr/>
        </p:nvSpPr>
        <p:spPr>
          <a:xfrm>
            <a:off x="2377108" y="2786067"/>
            <a:ext cx="7462631" cy="9238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F992B4C4-6574-1404-5840-9D009173A049}"/>
              </a:ext>
            </a:extLst>
          </p:cNvPr>
          <p:cNvSpPr/>
          <p:nvPr/>
        </p:nvSpPr>
        <p:spPr>
          <a:xfrm>
            <a:off x="2258466" y="2348717"/>
            <a:ext cx="7462631" cy="9238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288639AE-363E-E49F-ADA3-0AA079A41A42}"/>
              </a:ext>
            </a:extLst>
          </p:cNvPr>
          <p:cNvSpPr/>
          <p:nvPr/>
        </p:nvSpPr>
        <p:spPr>
          <a:xfrm>
            <a:off x="2317787" y="1685708"/>
            <a:ext cx="7462631" cy="9238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5" name="Grafik 24" descr="Ein Bild, das Screenshot, Grafiken, Schwarz, Design enthält.&#10;&#10;KI-generierte Inhalte können fehlerhaft sein.">
            <a:extLst>
              <a:ext uri="{FF2B5EF4-FFF2-40B4-BE49-F238E27FC236}">
                <a16:creationId xmlns:a16="http://schemas.microsoft.com/office/drawing/2014/main" id="{3CC0B05F-E4E3-5689-0DE9-8AA5B8C34E53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37" y="1000165"/>
            <a:ext cx="4762500" cy="4762500"/>
          </a:xfrm>
          <a:prstGeom prst="rect">
            <a:avLst/>
          </a:prstGeom>
        </p:spPr>
      </p:pic>
      <p:pic>
        <p:nvPicPr>
          <p:cNvPr id="27" name="Grafik 26" descr="Ein Bild, das Schwarz, Screenshot, Dunkelheit enthält.&#10;&#10;KI-generierte Inhalte können fehlerhaft sein.">
            <a:extLst>
              <a:ext uri="{FF2B5EF4-FFF2-40B4-BE49-F238E27FC236}">
                <a16:creationId xmlns:a16="http://schemas.microsoft.com/office/drawing/2014/main" id="{3AA36090-61B0-7227-0823-5703BD901A6F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0171" y="2034956"/>
            <a:ext cx="2804884" cy="278808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46869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DDBA9D9-FCFD-ED35-4F34-445806DDA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z="1600" dirty="0"/>
              <a:t>Anlass | Ziel | </a:t>
            </a:r>
            <a:r>
              <a:rPr lang="de-DE" sz="1600" dirty="0">
                <a:solidFill>
                  <a:schemeClr val="tx1"/>
                </a:solidFill>
              </a:rPr>
              <a:t>Projektumfeld</a:t>
            </a:r>
            <a:r>
              <a:rPr lang="de-DE" sz="1600" dirty="0"/>
              <a:t> | Planung | Systemarchitektur | Problem und Lösung | Ergebnis | Nutzen | Fazit und Ausblick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2C368D2-8793-0973-8E48-3D95F0F21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Projektumfeld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ED21DEA-C83D-DACE-AF22-8CDF160AA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  <a:p>
            <a:r>
              <a:rPr lang="de-DE" dirty="0"/>
              <a:t>32 Stunden</a:t>
            </a:r>
          </a:p>
          <a:p>
            <a:r>
              <a:rPr lang="de-DE" dirty="0"/>
              <a:t>Büro der IT der Kreisverwaltung Bad Dürkheim</a:t>
            </a:r>
          </a:p>
          <a:p>
            <a:r>
              <a:rPr lang="de-DE" dirty="0"/>
              <a:t>Eigenständig geplant und durchgeführt</a:t>
            </a:r>
          </a:p>
          <a:p>
            <a:pPr lvl="1"/>
            <a:r>
              <a:rPr lang="de-DE" dirty="0"/>
              <a:t>Kollegen in beratender Funktion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5408C0-4278-94EE-AB97-567FA86C0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3EC4D-5E72-47C8-A06D-2D92D75B0696}" type="slidenum">
              <a:rPr lang="de-DE" smtClean="0"/>
              <a:t>4</a:t>
            </a:fld>
            <a:endParaRPr lang="de-D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7263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2EA7C4B-33A9-E464-3CBE-62A23ADAE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z="1600" dirty="0"/>
              <a:t>Anlass | Ziel | Projektumfeld | </a:t>
            </a:r>
            <a:r>
              <a:rPr lang="de-DE" sz="1600" dirty="0">
                <a:solidFill>
                  <a:schemeClr val="tx1"/>
                </a:solidFill>
              </a:rPr>
              <a:t>Planung</a:t>
            </a:r>
            <a:r>
              <a:rPr lang="de-DE" sz="1600" dirty="0"/>
              <a:t> | Systemarchitektur | Problem und Lösung | Ergebnis | Nutzen | Fazit und Ausblick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6D5DB38-0D7B-81AF-6E37-568445303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Planung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AAA2262-2AA4-DD48-B22D-F75E24FA7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Zeitplan</a:t>
            </a:r>
          </a:p>
          <a:p>
            <a:pPr lvl="1"/>
            <a:r>
              <a:rPr lang="de-DE" dirty="0"/>
              <a:t>Planung:	</a:t>
            </a:r>
            <a:r>
              <a:rPr lang="de-DE" dirty="0">
                <a:solidFill>
                  <a:srgbClr val="FFFFFF"/>
                </a:solidFill>
              </a:rPr>
              <a:t>2</a:t>
            </a:r>
            <a:r>
              <a:rPr lang="de-DE" dirty="0"/>
              <a:t>7h</a:t>
            </a:r>
          </a:p>
          <a:p>
            <a:pPr lvl="1"/>
            <a:r>
              <a:rPr lang="de-DE" dirty="0"/>
              <a:t>Durchführung:	10h</a:t>
            </a:r>
          </a:p>
          <a:p>
            <a:pPr lvl="1"/>
            <a:r>
              <a:rPr lang="de-DE" dirty="0"/>
              <a:t>Abgabe:		</a:t>
            </a:r>
            <a:r>
              <a:rPr lang="de-DE" dirty="0">
                <a:solidFill>
                  <a:srgbClr val="FFFFFF"/>
                </a:solidFill>
              </a:rPr>
              <a:t>2</a:t>
            </a:r>
            <a:r>
              <a:rPr lang="de-DE" dirty="0"/>
              <a:t>4h</a:t>
            </a:r>
          </a:p>
          <a:p>
            <a:pPr lvl="1"/>
            <a:r>
              <a:rPr lang="de-DE" b="1" dirty="0"/>
              <a:t>Gesamt:	21h</a:t>
            </a:r>
          </a:p>
          <a:p>
            <a:pPr lvl="1"/>
            <a:r>
              <a:rPr lang="de-DE" b="1" dirty="0"/>
              <a:t>Puffer:		11h</a:t>
            </a:r>
          </a:p>
          <a:p>
            <a:pPr lvl="1"/>
            <a:endParaRPr lang="de-DE" dirty="0"/>
          </a:p>
          <a:p>
            <a:r>
              <a:rPr lang="de-DE" dirty="0"/>
              <a:t>Kosten</a:t>
            </a:r>
          </a:p>
          <a:p>
            <a:pPr lvl="1"/>
            <a:r>
              <a:rPr lang="de-DE" dirty="0"/>
              <a:t>Hardware:	</a:t>
            </a:r>
            <a:r>
              <a:rPr lang="de-DE" dirty="0">
                <a:solidFill>
                  <a:srgbClr val="FFFFFF"/>
                </a:solidFill>
              </a:rPr>
              <a:t>2</a:t>
            </a:r>
            <a:r>
              <a:rPr lang="de-DE" dirty="0"/>
              <a:t>41,71 €</a:t>
            </a:r>
          </a:p>
          <a:p>
            <a:pPr lvl="1"/>
            <a:r>
              <a:rPr lang="de-DE" dirty="0"/>
              <a:t>Arbeitszeit:	275,52 €</a:t>
            </a:r>
          </a:p>
          <a:p>
            <a:pPr lvl="1"/>
            <a:r>
              <a:rPr lang="de-DE" b="1" dirty="0"/>
              <a:t>Gesamt:	317,23 €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26EB33E-857C-4AA3-CEA3-BC3D762E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3EC4D-5E72-47C8-A06D-2D92D75B0696}" type="slidenum">
              <a:rPr lang="de-DE" smtClean="0"/>
              <a:t>5</a:t>
            </a:fld>
            <a:endParaRPr lang="de-DE" dirty="0"/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639BD217-6FF9-02D4-26C9-F362F4EB61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803048"/>
              </p:ext>
            </p:extLst>
          </p:nvPr>
        </p:nvGraphicFramePr>
        <p:xfrm>
          <a:off x="6848060" y="1965512"/>
          <a:ext cx="4505740" cy="3743960"/>
        </p:xfrm>
        <a:graphic>
          <a:graphicData uri="http://schemas.openxmlformats.org/drawingml/2006/table">
            <a:tbl>
              <a:tblPr/>
              <a:tblGrid>
                <a:gridCol w="2252870">
                  <a:extLst>
                    <a:ext uri="{9D8B030D-6E8A-4147-A177-3AD203B41FA5}">
                      <a16:colId xmlns:a16="http://schemas.microsoft.com/office/drawing/2014/main" val="2471342382"/>
                    </a:ext>
                  </a:extLst>
                </a:gridCol>
                <a:gridCol w="2252870">
                  <a:extLst>
                    <a:ext uri="{9D8B030D-6E8A-4147-A177-3AD203B41FA5}">
                      <a16:colId xmlns:a16="http://schemas.microsoft.com/office/drawing/2014/main" val="766967609"/>
                    </a:ext>
                  </a:extLst>
                </a:gridCol>
              </a:tblGrid>
              <a:tr h="39878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Ressource</a:t>
                      </a:r>
                      <a:endParaRPr lang="de-DE" sz="24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87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Kosten</a:t>
                      </a:r>
                      <a:endParaRPr lang="de-DE" sz="24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8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571849"/>
                  </a:ext>
                </a:extLst>
              </a:tr>
              <a:tr h="39878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ESP 32 DevKitC 32D</a:t>
                      </a:r>
                      <a:endParaRPr lang="de-DE" sz="24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0,99 €</a:t>
                      </a:r>
                      <a:endParaRPr lang="de-DE" sz="24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2157118"/>
                  </a:ext>
                </a:extLst>
              </a:tr>
              <a:tr h="39878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pl-PL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Raspberry Pi Zero W Set</a:t>
                      </a:r>
                      <a:endParaRPr lang="pl-PL" sz="24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28,89 €</a:t>
                      </a:r>
                      <a:endParaRPr lang="de-DE" sz="24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3171805"/>
                  </a:ext>
                </a:extLst>
              </a:tr>
              <a:tr h="39878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SMD RGB LED Modul</a:t>
                      </a:r>
                      <a:endParaRPr lang="de-DE" sz="24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1,20 €</a:t>
                      </a:r>
                      <a:endParaRPr lang="de-DE" sz="24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3377451"/>
                  </a:ext>
                </a:extLst>
              </a:tr>
              <a:tr h="39878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LD 2412</a:t>
                      </a:r>
                      <a:endParaRPr lang="de-DE" sz="24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3,85 €</a:t>
                      </a:r>
                      <a:endParaRPr lang="de-DE" sz="24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8322102"/>
                  </a:ext>
                </a:extLst>
              </a:tr>
              <a:tr h="39878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PN532 NFC Module</a:t>
                      </a:r>
                      <a:endParaRPr lang="de-DE" sz="24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2,99 €</a:t>
                      </a:r>
                      <a:endParaRPr lang="de-DE" sz="24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4343422"/>
                  </a:ext>
                </a:extLst>
              </a:tr>
              <a:tr h="39878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Breadboard + Jumper-Cable</a:t>
                      </a:r>
                      <a:endParaRPr lang="de-DE" sz="24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3,79 €</a:t>
                      </a:r>
                      <a:endParaRPr lang="de-DE" sz="24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109855"/>
                  </a:ext>
                </a:extLst>
              </a:tr>
              <a:tr h="39878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Arbeitszeit (32h)</a:t>
                      </a:r>
                      <a:endParaRPr lang="de-DE" sz="24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32h * 8,61 €/h = 275,52 €</a:t>
                      </a:r>
                      <a:endParaRPr lang="de-DE" sz="24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882524"/>
                  </a:ext>
                </a:extLst>
              </a:tr>
              <a:tr h="39878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Gesamtkosten</a:t>
                      </a:r>
                      <a:endParaRPr lang="de-DE" sz="24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317,23€</a:t>
                      </a:r>
                      <a:endParaRPr lang="de-DE" sz="24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980946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B690E9CF-4952-691A-3E01-2AC1013B7E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7739" y="1955007"/>
            <a:ext cx="837247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63609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5282022-FF3B-1B5B-BBDE-0A7D19026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z="1600" dirty="0"/>
              <a:t>Anlass | Ziel | Projektumfeld | Planung | </a:t>
            </a:r>
            <a:r>
              <a:rPr lang="de-DE" sz="1600" dirty="0">
                <a:solidFill>
                  <a:schemeClr val="tx1"/>
                </a:solidFill>
              </a:rPr>
              <a:t>Systemarchitektur</a:t>
            </a:r>
            <a:r>
              <a:rPr lang="de-DE" sz="1600" dirty="0"/>
              <a:t> | Problem und Lösung | Ergebnis | Nutzen | Fazit und Ausblick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6E0C5C9-E1FE-ED6A-9491-4111841B5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Systemarchitektur - Komponenten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085D6A0-297D-F270-11F8-D797F4851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dirty="0"/>
              <a:t>LD 2412</a:t>
            </a:r>
          </a:p>
          <a:p>
            <a:pPr lvl="1"/>
            <a:r>
              <a:rPr lang="de-DE" dirty="0"/>
              <a:t>24 GHz Radar</a:t>
            </a:r>
          </a:p>
          <a:p>
            <a:pPr lvl="1"/>
            <a:r>
              <a:rPr lang="de-DE" dirty="0"/>
              <a:t>UART</a:t>
            </a:r>
          </a:p>
          <a:p>
            <a:r>
              <a:rPr lang="de-DE" dirty="0"/>
              <a:t>ESP 32 DevKit C</a:t>
            </a:r>
          </a:p>
          <a:p>
            <a:pPr lvl="1"/>
            <a:r>
              <a:rPr lang="de-DE" dirty="0"/>
              <a:t>Leistungsstark</a:t>
            </a:r>
          </a:p>
          <a:p>
            <a:pPr lvl="1"/>
            <a:r>
              <a:rPr lang="de-DE" dirty="0"/>
              <a:t>WiFi &amp; Bluetooth</a:t>
            </a:r>
          </a:p>
          <a:p>
            <a:r>
              <a:rPr lang="de-DE" dirty="0"/>
              <a:t>Raspberry Pi Zero W</a:t>
            </a:r>
          </a:p>
          <a:p>
            <a:pPr lvl="1"/>
            <a:r>
              <a:rPr lang="de-DE" dirty="0"/>
              <a:t>Einplatinencomputer</a:t>
            </a:r>
          </a:p>
          <a:p>
            <a:pPr lvl="1"/>
            <a:r>
              <a:rPr lang="de-DE" dirty="0"/>
              <a:t>WiFi &amp; Bluetooth</a:t>
            </a:r>
          </a:p>
          <a:p>
            <a:r>
              <a:rPr lang="de-DE" dirty="0"/>
              <a:t>PN 532 von Elchouse</a:t>
            </a:r>
          </a:p>
          <a:p>
            <a:pPr lvl="1"/>
            <a:r>
              <a:rPr lang="de-DE" dirty="0"/>
              <a:t>NFC-Leser</a:t>
            </a:r>
          </a:p>
          <a:p>
            <a:pPr lvl="1"/>
            <a:r>
              <a:rPr lang="de-DE" dirty="0"/>
              <a:t>I²C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886EF4-6FB3-F2C9-FA17-A6256FF78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3EC4D-5E72-47C8-A06D-2D92D75B0696}" type="slidenum">
              <a:rPr lang="de-DE" smtClean="0"/>
              <a:t>6</a:t>
            </a:fld>
            <a:endParaRPr lang="de-DE" dirty="0"/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115FB257-736C-B198-4345-A38E3302D6B3}"/>
              </a:ext>
            </a:extLst>
          </p:cNvPr>
          <p:cNvGrpSpPr/>
          <p:nvPr/>
        </p:nvGrpSpPr>
        <p:grpSpPr>
          <a:xfrm>
            <a:off x="6591300" y="2256183"/>
            <a:ext cx="4762500" cy="3534477"/>
            <a:chOff x="6591300" y="2256183"/>
            <a:chExt cx="4762500" cy="3534477"/>
          </a:xfrm>
        </p:grpSpPr>
        <p:pic>
          <p:nvPicPr>
            <p:cNvPr id="8" name="Grafik 7" descr="Ein Bild, das Elektronisches Bauteil, Elektrisches Bauelement, passives Bauelement, Elektronik enthält.&#10;&#10;KI-generierte Inhalte können fehlerhaft sein.">
              <a:extLst>
                <a:ext uri="{FF2B5EF4-FFF2-40B4-BE49-F238E27FC236}">
                  <a16:creationId xmlns:a16="http://schemas.microsoft.com/office/drawing/2014/main" id="{E3530882-E6BC-50D3-3EFC-8A6CC8DB16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7847" b="15162"/>
            <a:stretch>
              <a:fillRect/>
            </a:stretch>
          </p:blipFill>
          <p:spPr>
            <a:xfrm>
              <a:off x="6591300" y="2256183"/>
              <a:ext cx="4762500" cy="3190460"/>
            </a:xfrm>
            <a:prstGeom prst="rect">
              <a:avLst/>
            </a:prstGeom>
          </p:spPr>
        </p:pic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43832840-BA46-9ADC-93E1-6F097B4C95F7}"/>
                </a:ext>
              </a:extLst>
            </p:cNvPr>
            <p:cNvSpPr txBox="1"/>
            <p:nvPr/>
          </p:nvSpPr>
          <p:spPr>
            <a:xfrm>
              <a:off x="6591300" y="5452106"/>
              <a:ext cx="244337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600" dirty="0"/>
                <a:t>Abb. 1:	LD 2412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2F2B01F4-1783-779A-5EE8-3CCF8EB8EB1F}"/>
              </a:ext>
            </a:extLst>
          </p:cNvPr>
          <p:cNvGrpSpPr/>
          <p:nvPr/>
        </p:nvGrpSpPr>
        <p:grpSpPr>
          <a:xfrm>
            <a:off x="6591300" y="1454689"/>
            <a:ext cx="4688885" cy="4330508"/>
            <a:chOff x="6591300" y="1454689"/>
            <a:chExt cx="4688885" cy="4330508"/>
          </a:xfrm>
        </p:grpSpPr>
        <p:pic>
          <p:nvPicPr>
            <p:cNvPr id="12" name="Grafik 11" descr="Ein Bild, das Elektronik, Elektronisches Bauteil, Elektrisches Bauelement, passives Bauelement enthält.&#10;&#10;KI-generierte Inhalte können fehlerhaft sein.">
              <a:extLst>
                <a:ext uri="{FF2B5EF4-FFF2-40B4-BE49-F238E27FC236}">
                  <a16:creationId xmlns:a16="http://schemas.microsoft.com/office/drawing/2014/main" id="{DC084AF2-2C32-A2F1-094A-F766BD9E53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64914" y="1454689"/>
              <a:ext cx="4615271" cy="3948621"/>
            </a:xfrm>
            <a:prstGeom prst="rect">
              <a:avLst/>
            </a:prstGeom>
          </p:spPr>
        </p:pic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79328118-CE23-2C9D-697C-8650B7A1E973}"/>
                </a:ext>
              </a:extLst>
            </p:cNvPr>
            <p:cNvSpPr txBox="1"/>
            <p:nvPr/>
          </p:nvSpPr>
          <p:spPr>
            <a:xfrm>
              <a:off x="6591300" y="5446643"/>
              <a:ext cx="29519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600" dirty="0"/>
                <a:t>Abb. 2:	ESP 32 DevKit C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F57118C3-BBF7-352B-C8C3-EFAC612D87FB}"/>
              </a:ext>
            </a:extLst>
          </p:cNvPr>
          <p:cNvGrpSpPr/>
          <p:nvPr/>
        </p:nvGrpSpPr>
        <p:grpSpPr>
          <a:xfrm>
            <a:off x="6591300" y="2150954"/>
            <a:ext cx="4634274" cy="3637030"/>
            <a:chOff x="6591300" y="2150954"/>
            <a:chExt cx="4634274" cy="3637030"/>
          </a:xfrm>
        </p:grpSpPr>
        <p:pic>
          <p:nvPicPr>
            <p:cNvPr id="14" name="Grafik 13" descr="Ein Bild, das Elektronik, Elektronisches Bauteil, Elektrisches Bauelement, passives Bauelement enthält.&#10;&#10;KI-generierte Inhalte können fehlerhaft sein.">
              <a:extLst>
                <a:ext uri="{FF2B5EF4-FFF2-40B4-BE49-F238E27FC236}">
                  <a16:creationId xmlns:a16="http://schemas.microsoft.com/office/drawing/2014/main" id="{EEF097BD-3041-2530-D9BA-9534B11807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84" t="16682" r="7836" b="17254"/>
            <a:stretch>
              <a:fillRect/>
            </a:stretch>
          </p:blipFill>
          <p:spPr>
            <a:xfrm>
              <a:off x="6719523" y="2150954"/>
              <a:ext cx="4506051" cy="2812774"/>
            </a:xfrm>
            <a:prstGeom prst="rect">
              <a:avLst/>
            </a:prstGeom>
          </p:spPr>
        </p:pic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93088897-7883-B9D1-0024-57F942AEA310}"/>
                </a:ext>
              </a:extLst>
            </p:cNvPr>
            <p:cNvSpPr txBox="1"/>
            <p:nvPr/>
          </p:nvSpPr>
          <p:spPr>
            <a:xfrm>
              <a:off x="6591300" y="5449430"/>
              <a:ext cx="40352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600" dirty="0"/>
                <a:t>Abb. 3:	Raspberry Pi Zero W</a:t>
              </a:r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AE0303A0-045F-2F56-F9D9-AB4D06135DB5}"/>
              </a:ext>
            </a:extLst>
          </p:cNvPr>
          <p:cNvGrpSpPr/>
          <p:nvPr/>
        </p:nvGrpSpPr>
        <p:grpSpPr>
          <a:xfrm>
            <a:off x="6591300" y="1732928"/>
            <a:ext cx="4688885" cy="4063783"/>
            <a:chOff x="6591300" y="1732928"/>
            <a:chExt cx="4688885" cy="4063783"/>
          </a:xfrm>
        </p:grpSpPr>
        <p:pic>
          <p:nvPicPr>
            <p:cNvPr id="10" name="Grafik 9" descr="Ein Bild, das Elektronik, Elektrisches Bauelement, Elektronisches Bauteil, passives Bauelement enthält.&#10;&#10;KI-generierte Inhalte können fehlerhaft sein.">
              <a:extLst>
                <a:ext uri="{FF2B5EF4-FFF2-40B4-BE49-F238E27FC236}">
                  <a16:creationId xmlns:a16="http://schemas.microsoft.com/office/drawing/2014/main" id="{7A3B1DE1-7D56-62DF-C8E4-D2B1C9E6B01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24" t="6335" r="4633" b="4848"/>
            <a:stretch>
              <a:fillRect/>
            </a:stretch>
          </p:blipFill>
          <p:spPr>
            <a:xfrm>
              <a:off x="6708690" y="1732928"/>
              <a:ext cx="4571495" cy="3719178"/>
            </a:xfrm>
            <a:prstGeom prst="rect">
              <a:avLst/>
            </a:prstGeom>
          </p:spPr>
        </p:pic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AE1C5BEC-32B6-CF81-B105-DCB92653F7D2}"/>
                </a:ext>
              </a:extLst>
            </p:cNvPr>
            <p:cNvSpPr txBox="1"/>
            <p:nvPr/>
          </p:nvSpPr>
          <p:spPr>
            <a:xfrm>
              <a:off x="6591300" y="5458157"/>
              <a:ext cx="361784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600" dirty="0"/>
                <a:t>Abb. 4:	PN532 von Elchouse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914448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E9002E4B-EBB1-4D9C-8F01-D24BD309C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z="1600" dirty="0"/>
              <a:t>Anlass | Ziel | Projektumfeld | Planung | </a:t>
            </a:r>
            <a:r>
              <a:rPr lang="de-DE" sz="1600" dirty="0">
                <a:solidFill>
                  <a:schemeClr val="tx1"/>
                </a:solidFill>
              </a:rPr>
              <a:t>Systemarchitektur</a:t>
            </a:r>
            <a:r>
              <a:rPr lang="de-DE" sz="1600" dirty="0"/>
              <a:t> | Problem und Lösung | Ergebnis | Nutzen | Fazit und Ausblick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E837FF5-6CD3-EADC-3164-1B8CD39E4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Systemarchitektur - Netzwerkplan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4098917-A895-7511-AF80-A91519E37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3EC4D-5E72-47C8-A06D-2D92D75B0696}" type="slidenum">
              <a:rPr lang="de-DE" smtClean="0"/>
              <a:t>7</a:t>
            </a:fld>
            <a:endParaRPr lang="de-DE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56DF3CA-F039-4854-5062-6F7B019C45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04" r="27444"/>
          <a:stretch>
            <a:fillRect/>
          </a:stretch>
        </p:blipFill>
        <p:spPr bwMode="auto">
          <a:xfrm>
            <a:off x="5467733" y="2518984"/>
            <a:ext cx="1315616" cy="2282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6FA503E4-2F93-9BBB-EB37-D59BB43291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093"/>
          <a:stretch>
            <a:fillRect/>
          </a:stretch>
        </p:blipFill>
        <p:spPr bwMode="auto">
          <a:xfrm>
            <a:off x="6783349" y="2518984"/>
            <a:ext cx="2812876" cy="2282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F82CAADC-2880-6C93-12A0-954949A429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12" r="40681"/>
          <a:stretch>
            <a:fillRect/>
          </a:stretch>
        </p:blipFill>
        <p:spPr bwMode="auto">
          <a:xfrm>
            <a:off x="4222406" y="2518984"/>
            <a:ext cx="2812876" cy="2282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99C9A676-4D60-F508-1093-2521948703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217" y="2518984"/>
            <a:ext cx="10079565" cy="2282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98FE558F-6CFA-5B4A-E5FF-EDBC8F917802}"/>
              </a:ext>
            </a:extLst>
          </p:cNvPr>
          <p:cNvSpPr/>
          <p:nvPr/>
        </p:nvSpPr>
        <p:spPr>
          <a:xfrm>
            <a:off x="7727349" y="2184133"/>
            <a:ext cx="3535069" cy="2608770"/>
          </a:xfrm>
          <a:prstGeom prst="rect">
            <a:avLst/>
          </a:prstGeom>
          <a:noFill/>
          <a:ln w="88900">
            <a:solidFill>
              <a:schemeClr val="accent1">
                <a:lumMod val="60000"/>
                <a:lumOff val="40000"/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156C276F-9780-A99F-8E58-716121B1AF5D}"/>
              </a:ext>
            </a:extLst>
          </p:cNvPr>
          <p:cNvSpPr/>
          <p:nvPr/>
        </p:nvSpPr>
        <p:spPr>
          <a:xfrm>
            <a:off x="1080000" y="2182184"/>
            <a:ext cx="6561924" cy="2608770"/>
          </a:xfrm>
          <a:prstGeom prst="rect">
            <a:avLst/>
          </a:prstGeom>
          <a:noFill/>
          <a:ln w="88900">
            <a:solidFill>
              <a:schemeClr val="accent3">
                <a:lumMod val="60000"/>
                <a:lumOff val="40000"/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5241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3.7037E-6 L 0.12982 -0.0004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484" y="-23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3.7037E-6 L 0.12566 -0.00047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76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70C70-AE42-137B-CD14-FC84ED5FD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3519347-AA59-95B0-3D25-5F82EC9A0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z="1600" dirty="0"/>
              <a:t>Anlass | Ziel | Projektumfeld | Planung | </a:t>
            </a:r>
            <a:r>
              <a:rPr lang="de-DE" sz="1600" dirty="0">
                <a:solidFill>
                  <a:schemeClr val="tx1"/>
                </a:solidFill>
              </a:rPr>
              <a:t>Systemarchitektur</a:t>
            </a:r>
            <a:r>
              <a:rPr lang="de-DE" sz="1600" dirty="0"/>
              <a:t> | Problem und Lösung | Ergebnis | Nutzen | Fazit und Ausblick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6B97C81-0271-4D78-27CB-9DC91EEA0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Systemarchitektur - Meldekette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1DFA76F-471F-F1CD-9487-BD2D5D170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8022"/>
            <a:ext cx="5257800" cy="4678941"/>
          </a:xfrm>
        </p:spPr>
        <p:txBody>
          <a:bodyPr/>
          <a:lstStyle/>
          <a:p>
            <a:r>
              <a:rPr lang="de-DE" dirty="0"/>
              <a:t>Radar</a:t>
            </a:r>
          </a:p>
          <a:p>
            <a:r>
              <a:rPr lang="de-DE" dirty="0"/>
              <a:t>ESP 32</a:t>
            </a:r>
          </a:p>
          <a:p>
            <a:r>
              <a:rPr lang="de-DE" dirty="0"/>
              <a:t>MQTT-Broker</a:t>
            </a:r>
          </a:p>
          <a:p>
            <a:r>
              <a:rPr lang="de-DE" dirty="0"/>
              <a:t>Python Skript</a:t>
            </a:r>
          </a:p>
          <a:p>
            <a:r>
              <a:rPr lang="de-DE" dirty="0"/>
              <a:t>Telegram-Bot &amp; JSON</a:t>
            </a:r>
          </a:p>
          <a:p>
            <a:r>
              <a:rPr lang="de-DE" dirty="0"/>
              <a:t>Smartphone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6054359-5712-DE8A-E463-02ACC87F9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3EC4D-5E72-47C8-A06D-2D92D75B0696}" type="slidenum">
              <a:rPr lang="de-DE" smtClean="0"/>
              <a:t>8</a:t>
            </a:fld>
            <a:endParaRPr lang="de-DE" dirty="0"/>
          </a:p>
        </p:txBody>
      </p:sp>
      <p:pic>
        <p:nvPicPr>
          <p:cNvPr id="8" name="Grafik 7" descr="Ein Bild, das Elektronisches Bauteil, Elektrisches Bauelement, passives Bauelement, Elektronik enthält.&#10;&#10;KI-generierte Inhalte können fehlerhaft sein.">
            <a:extLst>
              <a:ext uri="{FF2B5EF4-FFF2-40B4-BE49-F238E27FC236}">
                <a16:creationId xmlns:a16="http://schemas.microsoft.com/office/drawing/2014/main" id="{FB4BB98C-6F62-7678-FEBD-A602ADC8DA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87" t="18487" r="7913" b="14730"/>
          <a:stretch>
            <a:fillRect/>
          </a:stretch>
        </p:blipFill>
        <p:spPr>
          <a:xfrm>
            <a:off x="6138654" y="1498022"/>
            <a:ext cx="1651025" cy="1276155"/>
          </a:xfrm>
          <a:prstGeom prst="rect">
            <a:avLst/>
          </a:prstGeom>
        </p:spPr>
      </p:pic>
      <p:pic>
        <p:nvPicPr>
          <p:cNvPr id="10" name="Grafik 9" descr="Ein Bild, das Elektronik, Elektronisches Bauteil, Elektrisches Bauelement, passives Bauelement enthält.&#10;&#10;KI-generierte Inhalte können fehlerhaft sein.">
            <a:extLst>
              <a:ext uri="{FF2B5EF4-FFF2-40B4-BE49-F238E27FC236}">
                <a16:creationId xmlns:a16="http://schemas.microsoft.com/office/drawing/2014/main" id="{C435F943-1BED-88E1-55CA-7B505126BA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6866" y="1495193"/>
            <a:ext cx="1651025" cy="1412544"/>
          </a:xfrm>
          <a:prstGeom prst="rect">
            <a:avLst/>
          </a:prstGeom>
        </p:spPr>
      </p:pic>
      <p:pic>
        <p:nvPicPr>
          <p:cNvPr id="12" name="Grafik 11" descr="Ein Bild, das Elektronik, Elektronisches Bauteil, Elektrisches Bauelement, passives Bauelement enthält.&#10;&#10;KI-generierte Inhalte können fehlerhaft sein.">
            <a:extLst>
              <a:ext uri="{FF2B5EF4-FFF2-40B4-BE49-F238E27FC236}">
                <a16:creationId xmlns:a16="http://schemas.microsoft.com/office/drawing/2014/main" id="{D278673C-D912-1458-C066-79361F197F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849" y="3104921"/>
            <a:ext cx="1964634" cy="1573820"/>
          </a:xfrm>
          <a:prstGeom prst="rect">
            <a:avLst/>
          </a:prstGeom>
        </p:spPr>
      </p:pic>
      <p:pic>
        <p:nvPicPr>
          <p:cNvPr id="14" name="Grafik 13" descr="Ein Bild, das Clipart, Grafiken, Symbol, Cartoon enthält.&#10;&#10;KI-generierte Inhalte können fehlerhaft sein.">
            <a:extLst>
              <a:ext uri="{FF2B5EF4-FFF2-40B4-BE49-F238E27FC236}">
                <a16:creationId xmlns:a16="http://schemas.microsoft.com/office/drawing/2014/main" id="{2A42AA0F-1FBC-B8C8-9E09-3345960AC9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03" r="21576"/>
          <a:stretch>
            <a:fillRect/>
          </a:stretch>
        </p:blipFill>
        <p:spPr>
          <a:xfrm>
            <a:off x="9950546" y="3180021"/>
            <a:ext cx="1289103" cy="1276156"/>
          </a:xfrm>
          <a:prstGeom prst="rect">
            <a:avLst/>
          </a:prstGeom>
        </p:spPr>
      </p:pic>
      <p:sp>
        <p:nvSpPr>
          <p:cNvPr id="15" name="Wolke 14">
            <a:extLst>
              <a:ext uri="{FF2B5EF4-FFF2-40B4-BE49-F238E27FC236}">
                <a16:creationId xmlns:a16="http://schemas.microsoft.com/office/drawing/2014/main" id="{BD862A62-557B-80A6-1438-881D3E441E12}"/>
              </a:ext>
            </a:extLst>
          </p:cNvPr>
          <p:cNvSpPr/>
          <p:nvPr/>
        </p:nvSpPr>
        <p:spPr>
          <a:xfrm>
            <a:off x="5915439" y="5013717"/>
            <a:ext cx="2694333" cy="1052394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/>
              <a:t>Telegram-Bot</a:t>
            </a:r>
          </a:p>
        </p:txBody>
      </p:sp>
      <p:pic>
        <p:nvPicPr>
          <p:cNvPr id="17" name="Grafik 16" descr="Ein Bild, das Screenshot, Handy, Gerät, mobiles Gerät enthält.&#10;&#10;KI-generierte Inhalte können fehlerhaft sein.">
            <a:extLst>
              <a:ext uri="{FF2B5EF4-FFF2-40B4-BE49-F238E27FC236}">
                <a16:creationId xmlns:a16="http://schemas.microsoft.com/office/drawing/2014/main" id="{BBD0DE19-7CC8-F78E-5B79-F82411D9E0CC}"/>
              </a:ext>
            </a:extLst>
          </p:cNvPr>
          <p:cNvPicPr>
            <a:picLocks noChangeAspect="1"/>
          </p:cNvPicPr>
          <p:nvPr/>
        </p:nvPicPr>
        <p:blipFill>
          <a:blip r:embed="rId7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17" t="5324" r="17897" b="5324"/>
          <a:stretch>
            <a:fillRect/>
          </a:stretch>
        </p:blipFill>
        <p:spPr>
          <a:xfrm>
            <a:off x="10141282" y="4731923"/>
            <a:ext cx="774009" cy="1259097"/>
          </a:xfrm>
          <a:prstGeom prst="rect">
            <a:avLst/>
          </a:prstGeom>
        </p:spPr>
      </p:pic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B93B46F9-512C-5508-D186-03C9CD74CA23}"/>
              </a:ext>
            </a:extLst>
          </p:cNvPr>
          <p:cNvCxnSpPr>
            <a:cxnSpLocks/>
          </p:cNvCxnSpPr>
          <p:nvPr/>
        </p:nvCxnSpPr>
        <p:spPr>
          <a:xfrm>
            <a:off x="7946483" y="2201465"/>
            <a:ext cx="176141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AA704C81-3460-2C4C-8C97-6077B07C7538}"/>
              </a:ext>
            </a:extLst>
          </p:cNvPr>
          <p:cNvCxnSpPr>
            <a:cxnSpLocks/>
          </p:cNvCxnSpPr>
          <p:nvPr/>
        </p:nvCxnSpPr>
        <p:spPr>
          <a:xfrm flipH="1">
            <a:off x="7908652" y="2572860"/>
            <a:ext cx="1800481" cy="71754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5F4D07C5-60F0-9DFD-436E-9A81570381CD}"/>
              </a:ext>
            </a:extLst>
          </p:cNvPr>
          <p:cNvCxnSpPr/>
          <p:nvPr/>
        </p:nvCxnSpPr>
        <p:spPr>
          <a:xfrm>
            <a:off x="7946483" y="3787422"/>
            <a:ext cx="176141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812215A0-B392-C063-FFF2-4CDB3A96C3A3}"/>
              </a:ext>
            </a:extLst>
          </p:cNvPr>
          <p:cNvCxnSpPr>
            <a:cxnSpLocks/>
          </p:cNvCxnSpPr>
          <p:nvPr/>
        </p:nvCxnSpPr>
        <p:spPr>
          <a:xfrm>
            <a:off x="8696739" y="5423079"/>
            <a:ext cx="1253807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8E384DE2-D65F-DFF1-A759-C2D27A36B9C9}"/>
              </a:ext>
            </a:extLst>
          </p:cNvPr>
          <p:cNvCxnSpPr>
            <a:cxnSpLocks/>
          </p:cNvCxnSpPr>
          <p:nvPr/>
        </p:nvCxnSpPr>
        <p:spPr>
          <a:xfrm flipH="1">
            <a:off x="7907412" y="4128682"/>
            <a:ext cx="1800481" cy="71754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Grafik 35" descr="Ein Bild, das Symbol, Grafiken, Schrift, Screenshot enthält.&#10;&#10;KI-generierte Inhalte können fehlerhaft sein.">
            <a:extLst>
              <a:ext uri="{FF2B5EF4-FFF2-40B4-BE49-F238E27FC236}">
                <a16:creationId xmlns:a16="http://schemas.microsoft.com/office/drawing/2014/main" id="{B0B73EE5-6B66-81E2-7C4B-AFCDADCF4FEE}"/>
              </a:ext>
            </a:extLst>
          </p:cNvPr>
          <p:cNvPicPr>
            <a:picLocks noChangeAspect="1"/>
          </p:cNvPicPr>
          <p:nvPr/>
        </p:nvPicPr>
        <p:blipFill>
          <a:blip r:embed="rId8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6179" y="4291458"/>
            <a:ext cx="2152293" cy="2152293"/>
          </a:xfrm>
          <a:prstGeom prst="rect">
            <a:avLst/>
          </a:prstGeom>
        </p:spPr>
      </p:pic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032D8BBF-9A0B-2214-88C7-B1F19A89DF7D}"/>
              </a:ext>
            </a:extLst>
          </p:cNvPr>
          <p:cNvCxnSpPr>
            <a:cxnSpLocks/>
          </p:cNvCxnSpPr>
          <p:nvPr/>
        </p:nvCxnSpPr>
        <p:spPr>
          <a:xfrm flipH="1">
            <a:off x="5548460" y="4002504"/>
            <a:ext cx="4159433" cy="117325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022477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6348AF0-12FE-9859-CA34-D6B52D56F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z="1600" dirty="0"/>
              <a:t>Anlass | Ziel | Projektumfeld | Planung | Systemarchitektur | </a:t>
            </a:r>
            <a:r>
              <a:rPr lang="de-DE" sz="1600" dirty="0">
                <a:solidFill>
                  <a:schemeClr val="tx1"/>
                </a:solidFill>
              </a:rPr>
              <a:t>Problem und Lösung </a:t>
            </a:r>
            <a:r>
              <a:rPr lang="de-DE" sz="1600" dirty="0"/>
              <a:t>| Ergebnis | Nutzen | Fazit und Ausblick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86CC52E-EE27-6ADC-300D-21A0401C3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Problem und Lösung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4772AC4-21A7-B07F-71B9-EE4E901B7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Keine WLAN-Verbindung</a:t>
            </a:r>
          </a:p>
          <a:p>
            <a:r>
              <a:rPr lang="de-DE" dirty="0"/>
              <a:t>Systematische Fehlersuche</a:t>
            </a:r>
          </a:p>
          <a:p>
            <a:pPr lvl="1"/>
            <a:r>
              <a:rPr lang="de-DE" dirty="0"/>
              <a:t>Bilder der Quellen und durchstreichen</a:t>
            </a:r>
          </a:p>
          <a:p>
            <a:r>
              <a:rPr lang="de-DE" dirty="0"/>
              <a:t>Austausch ESP 32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4F24D2-A2E8-B1DC-252F-3AD3583A1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3EC4D-5E72-47C8-A06D-2D92D75B0696}" type="slidenum">
              <a:rPr lang="de-DE" smtClean="0"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13083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9745540-F794-0A40-F54B-7A1A358D5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z="1600" dirty="0"/>
              <a:t>Anlass | Ziel | Projektumfeld | Planung | Systemarchitektur | Problem und Lösung | </a:t>
            </a:r>
            <a:r>
              <a:rPr lang="de-DE" sz="1600" dirty="0">
                <a:solidFill>
                  <a:schemeClr val="tx1"/>
                </a:solidFill>
              </a:rPr>
              <a:t>Ergebnis</a:t>
            </a:r>
            <a:r>
              <a:rPr lang="de-DE" sz="1600" dirty="0"/>
              <a:t> | Nutzen | Fazit und Ausblick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F24BBCB-741E-719A-5B02-DED9CD4E5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Ergebnis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511BAE-6841-E97C-FD83-444D11DC7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3EC4D-5E72-47C8-A06D-2D92D75B0696}" type="slidenum">
              <a:rPr lang="de-DE" smtClean="0"/>
              <a:t>10</a:t>
            </a:fld>
            <a:endParaRPr lang="de-DE" dirty="0"/>
          </a:p>
        </p:txBody>
      </p:sp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6FFF0E7D-33CE-688E-968D-2A7F0EC530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1187119"/>
              </p:ext>
            </p:extLst>
          </p:nvPr>
        </p:nvGraphicFramePr>
        <p:xfrm>
          <a:off x="2549387" y="1883384"/>
          <a:ext cx="7093226" cy="3719444"/>
        </p:xfrm>
        <a:graphic>
          <a:graphicData uri="http://schemas.openxmlformats.org/drawingml/2006/table">
            <a:tbl>
              <a:tblPr/>
              <a:tblGrid>
                <a:gridCol w="3546613">
                  <a:extLst>
                    <a:ext uri="{9D8B030D-6E8A-4147-A177-3AD203B41FA5}">
                      <a16:colId xmlns:a16="http://schemas.microsoft.com/office/drawing/2014/main" val="2166712583"/>
                    </a:ext>
                  </a:extLst>
                </a:gridCol>
                <a:gridCol w="3546613">
                  <a:extLst>
                    <a:ext uri="{9D8B030D-6E8A-4147-A177-3AD203B41FA5}">
                      <a16:colId xmlns:a16="http://schemas.microsoft.com/office/drawing/2014/main" val="3637918839"/>
                    </a:ext>
                  </a:extLst>
                </a:gridCol>
              </a:tblGrid>
              <a:tr h="44579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de-D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Projektbestandteil</a:t>
                      </a:r>
                      <a:endParaRPr lang="de-DE" sz="28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87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de-D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Soll</a:t>
                      </a:r>
                      <a:endParaRPr lang="de-DE" sz="28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8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2700576"/>
                  </a:ext>
                </a:extLst>
              </a:tr>
              <a:tr h="44579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de-D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Anwesenheitserkennung</a:t>
                      </a:r>
                      <a:endParaRPr lang="de-DE" sz="28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de-D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Erkennung von Personen</a:t>
                      </a:r>
                      <a:endParaRPr lang="de-DE" sz="28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1561534"/>
                  </a:ext>
                </a:extLst>
              </a:tr>
              <a:tr h="708456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de-D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MQTT-Kommunikation</a:t>
                      </a:r>
                      <a:endParaRPr lang="de-DE" sz="28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de-D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Übertragung von Alarmen über MQTT</a:t>
                      </a:r>
                      <a:endParaRPr lang="de-DE" sz="28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0389073"/>
                  </a:ext>
                </a:extLst>
              </a:tr>
              <a:tr h="708456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de-D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Alarmverarbeitung</a:t>
                      </a:r>
                      <a:endParaRPr lang="de-DE" sz="28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Benachrichtigung über Telegram und Protokollierung</a:t>
                      </a:r>
                      <a:endParaRPr lang="de-DE" sz="28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0899306"/>
                  </a:ext>
                </a:extLst>
              </a:tr>
              <a:tr h="708456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de-D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Scharfschaltung über NFC-Tag</a:t>
                      </a:r>
                      <a:endParaRPr lang="de-DE" sz="28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de-D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Aktivierung der Alarmanlage per autorisiertem NFC-Tag</a:t>
                      </a:r>
                      <a:endParaRPr lang="de-DE" sz="28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8828601"/>
                  </a:ext>
                </a:extLst>
              </a:tr>
              <a:tr h="702496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de-DE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Stabilität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de-DE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Keine Abstürzte im Betreib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13978"/>
                  </a:ext>
                </a:extLst>
              </a:tr>
            </a:tbl>
          </a:graphicData>
        </a:graphic>
      </p:graphicFrame>
      <p:sp>
        <p:nvSpPr>
          <p:cNvPr id="11" name="Halber Rahmen 10">
            <a:extLst>
              <a:ext uri="{FF2B5EF4-FFF2-40B4-BE49-F238E27FC236}">
                <a16:creationId xmlns:a16="http://schemas.microsoft.com/office/drawing/2014/main" id="{FBB8A7C5-0149-39D2-7B32-D03BE8869D3A}"/>
              </a:ext>
            </a:extLst>
          </p:cNvPr>
          <p:cNvSpPr/>
          <p:nvPr/>
        </p:nvSpPr>
        <p:spPr>
          <a:xfrm rot="13118399">
            <a:off x="9593524" y="1907120"/>
            <a:ext cx="345393" cy="768331"/>
          </a:xfrm>
          <a:prstGeom prst="halfFram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2" name="Halber Rahmen 11">
            <a:extLst>
              <a:ext uri="{FF2B5EF4-FFF2-40B4-BE49-F238E27FC236}">
                <a16:creationId xmlns:a16="http://schemas.microsoft.com/office/drawing/2014/main" id="{45888549-F1E9-027C-FFC5-E65EEEB573B8}"/>
              </a:ext>
            </a:extLst>
          </p:cNvPr>
          <p:cNvSpPr/>
          <p:nvPr/>
        </p:nvSpPr>
        <p:spPr>
          <a:xfrm rot="13118399">
            <a:off x="9593523" y="2636933"/>
            <a:ext cx="345393" cy="768331"/>
          </a:xfrm>
          <a:prstGeom prst="halfFram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3" name="Halber Rahmen 12">
            <a:extLst>
              <a:ext uri="{FF2B5EF4-FFF2-40B4-BE49-F238E27FC236}">
                <a16:creationId xmlns:a16="http://schemas.microsoft.com/office/drawing/2014/main" id="{649FCC99-F636-6E59-8F9C-41CD42D2736F}"/>
              </a:ext>
            </a:extLst>
          </p:cNvPr>
          <p:cNvSpPr/>
          <p:nvPr/>
        </p:nvSpPr>
        <p:spPr>
          <a:xfrm rot="13118399">
            <a:off x="9593523" y="3265145"/>
            <a:ext cx="345393" cy="768331"/>
          </a:xfrm>
          <a:prstGeom prst="halfFram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4" name="Halber Rahmen 13">
            <a:extLst>
              <a:ext uri="{FF2B5EF4-FFF2-40B4-BE49-F238E27FC236}">
                <a16:creationId xmlns:a16="http://schemas.microsoft.com/office/drawing/2014/main" id="{3AC39410-34F2-914C-B4EA-B4B80E66ED95}"/>
              </a:ext>
            </a:extLst>
          </p:cNvPr>
          <p:cNvSpPr/>
          <p:nvPr/>
        </p:nvSpPr>
        <p:spPr>
          <a:xfrm rot="13118399">
            <a:off x="9593523" y="4029181"/>
            <a:ext cx="345393" cy="768331"/>
          </a:xfrm>
          <a:prstGeom prst="halfFram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5" name="Halber Rahmen 14">
            <a:extLst>
              <a:ext uri="{FF2B5EF4-FFF2-40B4-BE49-F238E27FC236}">
                <a16:creationId xmlns:a16="http://schemas.microsoft.com/office/drawing/2014/main" id="{79794128-00A9-D2AD-3217-9C7C4468633B}"/>
              </a:ext>
            </a:extLst>
          </p:cNvPr>
          <p:cNvSpPr/>
          <p:nvPr/>
        </p:nvSpPr>
        <p:spPr>
          <a:xfrm rot="13118399">
            <a:off x="9593523" y="4691080"/>
            <a:ext cx="345393" cy="768331"/>
          </a:xfrm>
          <a:prstGeom prst="halfFram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66990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45657AA-3DB8-EA95-97C1-C008E2495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z="1600" dirty="0"/>
              <a:t>Anlass | Ziel | Projektumfeld | Planung | Systemarchitektur | Problem und Lösung | Ergebnis | </a:t>
            </a:r>
            <a:r>
              <a:rPr lang="de-DE" sz="1600" dirty="0">
                <a:solidFill>
                  <a:schemeClr val="tx1"/>
                </a:solidFill>
              </a:rPr>
              <a:t>Nutzen</a:t>
            </a:r>
            <a:r>
              <a:rPr lang="de-DE" sz="1600" dirty="0"/>
              <a:t> | Fazit und Ausblick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27938B1-2D61-C8FC-5907-DACB022D0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Nutzen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8FF654B-D3B5-6AAE-6ACF-DA9B932DA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Übertragbar auf die Temperaturüberwachung im RZ und Lichtsteuerung Foyer</a:t>
            </a:r>
          </a:p>
          <a:p>
            <a:r>
              <a:rPr lang="de-DE" dirty="0"/>
              <a:t>Fachwissen für zukünftige interne Projekte im Bereich IoT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E9C8452-597C-9D08-8290-8B783B29C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3EC4D-5E72-47C8-A06D-2D92D75B0696}" type="slidenum">
              <a:rPr lang="de-DE" smtClean="0"/>
              <a:t>11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972784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110D1846-BC32-4C51-583F-2C4662B6C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z="1600" dirty="0"/>
              <a:t>Anlass | Ziel | Projektumfeld | Planung | Systemarchitektur | Problem und Lösung | Ergebnis | Nutzen | </a:t>
            </a:r>
            <a:r>
              <a:rPr lang="de-DE" sz="1600" dirty="0">
                <a:solidFill>
                  <a:schemeClr val="tx1"/>
                </a:solidFill>
              </a:rPr>
              <a:t>Fazit und Ausblick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F8E1BC4-30A2-53A1-00B7-0D1678492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Fazit und Ausblick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57C1178-4D0D-E48F-5B11-F1ABB3774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Erkenntnisse</a:t>
            </a:r>
          </a:p>
          <a:p>
            <a:pPr lvl="1"/>
            <a:r>
              <a:rPr lang="de-DE" dirty="0"/>
              <a:t>Pub/Sub &amp; Broker</a:t>
            </a:r>
          </a:p>
          <a:p>
            <a:pPr lvl="1"/>
            <a:r>
              <a:rPr lang="de-DE" dirty="0"/>
              <a:t>Funktionsfähiger Alarmanlagenprototyp</a:t>
            </a:r>
          </a:p>
          <a:p>
            <a:pPr lvl="1"/>
            <a:r>
              <a:rPr lang="de-DE" dirty="0"/>
              <a:t>Fehlende Verschlüsselung</a:t>
            </a:r>
          </a:p>
          <a:p>
            <a:pPr lvl="1"/>
            <a:r>
              <a:rPr lang="de-DE" dirty="0"/>
              <a:t>Keine Redundanz</a:t>
            </a:r>
          </a:p>
          <a:p>
            <a:pPr lvl="1"/>
            <a:r>
              <a:rPr lang="de-DE" dirty="0"/>
              <a:t>Abweichung Zeitplan</a:t>
            </a:r>
          </a:p>
          <a:p>
            <a:pPr marL="457200" lvl="1" indent="0">
              <a:buNone/>
            </a:pPr>
            <a:endParaRPr lang="de-DE" dirty="0"/>
          </a:p>
          <a:p>
            <a:r>
              <a:rPr lang="de-DE" dirty="0"/>
              <a:t>Erweiterungen</a:t>
            </a:r>
          </a:p>
          <a:p>
            <a:pPr lvl="1"/>
            <a:r>
              <a:rPr lang="de-DE" dirty="0"/>
              <a:t>Redundanz</a:t>
            </a:r>
          </a:p>
          <a:p>
            <a:pPr lvl="1"/>
            <a:r>
              <a:rPr lang="de-DE" dirty="0"/>
              <a:t>Höhere Sicherheit</a:t>
            </a:r>
          </a:p>
          <a:p>
            <a:pPr lvl="1"/>
            <a:r>
              <a:rPr lang="de-DE" dirty="0"/>
              <a:t>Weitere Sensoren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56B6B9C-3ED7-B756-7A03-66AF2C05E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3EC4D-5E72-47C8-A06D-2D92D75B0696}" type="slidenum">
              <a:rPr lang="de-DE" smtClean="0"/>
              <a:t>12</a:t>
            </a:fld>
            <a:endParaRPr lang="de-DE" dirty="0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CF99DC27-23D8-C88D-90B3-F6A67456AEF9}"/>
              </a:ext>
            </a:extLst>
          </p:cNvPr>
          <p:cNvGrpSpPr/>
          <p:nvPr/>
        </p:nvGrpSpPr>
        <p:grpSpPr>
          <a:xfrm>
            <a:off x="237067" y="1370517"/>
            <a:ext cx="10583333" cy="4933950"/>
            <a:chOff x="237067" y="1370517"/>
            <a:chExt cx="10583333" cy="4933950"/>
          </a:xfrm>
        </p:grpSpPr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E31992BC-6494-9274-21DD-57A761DFDA4C}"/>
                </a:ext>
              </a:extLst>
            </p:cNvPr>
            <p:cNvSpPr/>
            <p:nvPr/>
          </p:nvSpPr>
          <p:spPr>
            <a:xfrm>
              <a:off x="237067" y="1498022"/>
              <a:ext cx="3330222" cy="39894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pic>
          <p:nvPicPr>
            <p:cNvPr id="5122" name="Picture 2">
              <a:extLst>
                <a:ext uri="{FF2B5EF4-FFF2-40B4-BE49-F238E27FC236}">
                  <a16:creationId xmlns:a16="http://schemas.microsoft.com/office/drawing/2014/main" id="{BB8B2BEA-04A8-165E-CD61-38FD257755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71600" y="1370517"/>
              <a:ext cx="9448800" cy="4933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734514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0608166-4914-8AFA-3148-10D0E9E66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z="1600" dirty="0"/>
              <a:t>Anlass | Ziel | Projektumfeld | Planung | Systemarchitektur | Problem und Lösung | Ergebnis | Nutzen | Fazit und Ausblick | </a:t>
            </a:r>
            <a:r>
              <a:rPr lang="de-DE" sz="1600" dirty="0">
                <a:solidFill>
                  <a:schemeClr val="tx1"/>
                </a:solidFill>
              </a:rPr>
              <a:t>Quellen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F083728-C239-AB96-63CF-0F015C259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Quellen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0FA2035-38FC-7E9B-250B-06B34BF31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994CD7-1C6E-0CFB-290C-FA6DA2AF7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3EC4D-5E72-47C8-A06D-2D92D75B0696}" type="slidenum">
              <a:rPr lang="de-DE" smtClean="0"/>
              <a:t>13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064290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3|10|0.6|15.5|2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8|2.2|5.9|0.5|5.8|4.1|11.2|11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4|3.2|8.9|5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3|4.4|4.8|5.6|22|4.3|8.9|9.5|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0.5|0.3|0.2|0.2|0.2|0.4|0.2|0.3|0.3|0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|9.8|9.2|1.4|11.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2|16|26.1|10.2|8.7|10.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9|14|19.2|7.1|10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724</Words>
  <Application>Microsoft Office PowerPoint</Application>
  <PresentationFormat>Breitbild</PresentationFormat>
  <Paragraphs>201</Paragraphs>
  <Slides>14</Slides>
  <Notes>6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</vt:lpstr>
      <vt:lpstr>Umsetzung einer Alarmanlage mittels ESP32 und MQTT</vt:lpstr>
      <vt:lpstr>Agenda</vt:lpstr>
      <vt:lpstr>Anlass</vt:lpstr>
      <vt:lpstr>Ziel</vt:lpstr>
      <vt:lpstr>Projektumfeld</vt:lpstr>
      <vt:lpstr>Planung</vt:lpstr>
      <vt:lpstr>Systemarchitektur - Komponenten</vt:lpstr>
      <vt:lpstr>Systemarchitektur - Netzwerkplan</vt:lpstr>
      <vt:lpstr>Systemarchitektur - Meldekette</vt:lpstr>
      <vt:lpstr>Problem und Lösung</vt:lpstr>
      <vt:lpstr>Ergebnis</vt:lpstr>
      <vt:lpstr>Nutzen</vt:lpstr>
      <vt:lpstr>Fazit und Ausblick</vt:lpstr>
      <vt:lpstr>Quellen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Czechak</dc:creator>
  <cp:lastModifiedBy>Simon Czechak</cp:lastModifiedBy>
  <cp:revision>29</cp:revision>
  <dcterms:created xsi:type="dcterms:W3CDTF">2026-01-17T13:56:14Z</dcterms:created>
  <dcterms:modified xsi:type="dcterms:W3CDTF">2026-01-18T22:09:41Z</dcterms:modified>
</cp:coreProperties>
</file>